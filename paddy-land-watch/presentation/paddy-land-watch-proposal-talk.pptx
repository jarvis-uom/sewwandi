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6309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Paddy Land Watch for Sri Lanka  ·  Group 6, JARVIS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Paddy Land Watch for Sri Lanka  ·  Group 6, JARVIS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C1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zdogan15/srilanka" TargetMode="External"/><Relationship Id="rId2" Type="http://schemas.openxmlformats.org/officeDocument/2006/relationships/hyperlink" Target="https://developers.google.com/earth-engine/datasets/catalog/COPERNICUS_S1_GRD" TargetMode="External"/><Relationship Id="rId3" Type="http://schemas.openxmlformats.org/officeDocument/2006/relationships/hyperlink" Target="https://developers.google.com/earth-engine/datasets/catalog/COPERNICUS_S2_SR_HARMONIZED" TargetMode="External"/><Relationship Id="rId4" Type="http://schemas.openxmlformats.org/officeDocument/2006/relationships/hyperlink" Target="https://developers.google.com/earth-engine/datasets/catalog/GOOGLE_SATELLITE_EMBEDDING_V1_ANNUAL" TargetMode="External"/><Relationship Id="rId5" Type="http://schemas.openxmlformats.org/officeDocument/2006/relationships/hyperlink" Target="https://browser.dataspace.copernicus.eu/" TargetMode="External"/><Relationship Id="rId6" Type="http://schemas.openxmlformats.org/officeDocument/2006/relationships/hyperlink" Target="http://www.statistics.gov.lk/Agriculture/StaticalInformation/PaddyStatistics" TargetMode="External"/><Relationship Id="rId7" Type="http://schemas.openxmlformats.org/officeDocument/2006/relationships/hyperlink" Target="https://meetingorganizer.copernicus.org/EGU25/EGU25-18606.html" TargetMode="External"/><Relationship Id="rId8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PROJECT PROPOSAL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Paddy Land Watch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8346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AI that tracks what happens to every paddy tract each season, and warns early when paddy land is filled in, using Sentinel-1 radar and Sentinel-2 images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6DE"/>
                </a:solidFill>
              </a:rPr>
              <a:t>Wet zone: Gampaha, Colombo and Kalutara  ·  Group 6, JARVIS  ·  IS4990, October 2026</a:t>
            </a:r>
            <a:endParaRPr lang="en-US" sz="1350" dirty="0"/>
          </a:p>
        </p:txBody>
      </p:sp>
      <p:sp>
        <p:nvSpPr>
          <p:cNvPr id="6" name="Member 1"/>
          <p:cNvSpPr/>
          <p:nvPr/>
        </p:nvSpPr>
        <p:spPr>
          <a:xfrm>
            <a:off x="7726680" y="1417320"/>
            <a:ext cx="3913632" cy="1024128"/>
          </a:xfrm>
          <a:prstGeom prst="roundRect">
            <a:avLst>
              <a:gd name="adj" fmla="val 10714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7" name="icon FaBrain"/>
          <p:cNvSpPr/>
          <p:nvPr/>
        </p:nvSpPr>
        <p:spPr>
          <a:xfrm>
            <a:off x="7955280" y="16550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792224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0" y="1600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5"/>
                </a:solidFill>
              </a:rPr>
              <a:t>MEMBER 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1874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land-state model</a:t>
            </a:r>
            <a:endParaRPr lang="en-US" sz="1800" dirty="0"/>
          </a:p>
        </p:txBody>
      </p:sp>
      <p:sp>
        <p:nvSpPr>
          <p:cNvPr id="11" name="Member 2"/>
          <p:cNvSpPr/>
          <p:nvPr/>
        </p:nvSpPr>
        <p:spPr>
          <a:xfrm>
            <a:off x="7726680" y="2651760"/>
            <a:ext cx="3913632" cy="1024128"/>
          </a:xfrm>
          <a:prstGeom prst="roundRect">
            <a:avLst>
              <a:gd name="adj" fmla="val 10714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12" name="icon FaSatelliteDish"/>
          <p:cNvSpPr/>
          <p:nvPr/>
        </p:nvSpPr>
        <p:spPr>
          <a:xfrm>
            <a:off x="7955280" y="288950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0266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686800" y="28346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5"/>
                </a:solidFill>
              </a:rPr>
              <a:t>MEMBER 2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3108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Radar change detection</a:t>
            </a:r>
            <a:endParaRPr lang="en-US" sz="1800" dirty="0"/>
          </a:p>
        </p:txBody>
      </p:sp>
      <p:sp>
        <p:nvSpPr>
          <p:cNvPr id="16" name="Member 3"/>
          <p:cNvSpPr/>
          <p:nvPr/>
        </p:nvSpPr>
        <p:spPr>
          <a:xfrm>
            <a:off x="7726680" y="3886200"/>
            <a:ext cx="3913632" cy="1024128"/>
          </a:xfrm>
          <a:prstGeom prst="roundRect">
            <a:avLst>
              <a:gd name="adj" fmla="val 10714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17" name="icon FaMapLocationDot"/>
          <p:cNvSpPr/>
          <p:nvPr/>
        </p:nvSpPr>
        <p:spPr>
          <a:xfrm>
            <a:off x="7955280" y="412394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611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86800" y="4069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5"/>
                </a:solidFill>
              </a:rPr>
              <a:t>MEMBER 3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686800" y="4343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Pipeline and dashboard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The problem: paddy land is lost before anyone sees it</a:t>
            </a:r>
            <a:endParaRPr lang="en-US" sz="3200" dirty="0"/>
          </a:p>
        </p:txBody>
      </p:sp>
      <p:sp>
        <p:nvSpPr>
          <p:cNvPr id="3" name="The law"/>
          <p:cNvSpPr/>
          <p:nvPr/>
        </p:nvSpPr>
        <p:spPr>
          <a:xfrm>
            <a:off x="548640" y="1325880"/>
            <a:ext cx="57150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icon FaScaleBalanced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6802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904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law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3794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Paddy land must be farmed every season (s. 30). Filling it without written permission is an offence: a fine up to Rs 100,000 or up to six months in prison (s. 32).</a:t>
            </a:r>
            <a:endParaRPr lang="en-US" sz="1300" dirty="0"/>
          </a:p>
        </p:txBody>
      </p:sp>
      <p:sp>
        <p:nvSpPr>
          <p:cNvPr id="8" name="The scale"/>
          <p:cNvSpPr/>
          <p:nvPr/>
        </p:nvSpPr>
        <p:spPr>
          <a:xfrm>
            <a:off x="548640" y="2807208"/>
            <a:ext cx="57150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icon FaChartArea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316153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971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scale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33192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Over 100,000 acres of paddy lay uncultivated in a 2025 department survey. A 2018 audit in Kegalle found 372 filling cases and no legal action.</a:t>
            </a:r>
            <a:endParaRPr lang="en-US" sz="1300" dirty="0"/>
          </a:p>
        </p:txBody>
      </p:sp>
      <p:sp>
        <p:nvSpPr>
          <p:cNvPr id="13" name="Today"/>
          <p:cNvSpPr/>
          <p:nvPr/>
        </p:nvSpPr>
        <p:spPr>
          <a:xfrm>
            <a:off x="548640" y="4288536"/>
            <a:ext cx="57150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icon FaFileLines"/>
          <p:cNvSpPr/>
          <p:nvPr/>
        </p:nvSpPr>
        <p:spPr>
          <a:xfrm>
            <a:off x="777240" y="45171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64286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453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Today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8006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Paper registers, field visits and complaints: officers find the filling after the soil is in.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80644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Agrarian Development Act No. 46 of 2000; Auditor General, Kegalle District special audit, 2018.</a:t>
            </a:r>
            <a:endParaRPr lang="en-US" sz="1050" dirty="0"/>
          </a:p>
        </p:txBody>
      </p:sp>
      <p:sp>
        <p:nvSpPr>
          <p:cNvPr id="19" name="Today"/>
          <p:cNvSpPr/>
          <p:nvPr/>
        </p:nvSpPr>
        <p:spPr>
          <a:xfrm>
            <a:off x="6537960" y="1325880"/>
            <a:ext cx="5102352" cy="2011680"/>
          </a:xfrm>
          <a:prstGeom prst="roundRect">
            <a:avLst>
              <a:gd name="adj" fmla="val 5455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76656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Today</a:t>
            </a:r>
            <a:endParaRPr lang="en-US" sz="1700" dirty="0"/>
          </a:p>
        </p:txBody>
      </p:sp>
      <p:sp>
        <p:nvSpPr>
          <p:cNvPr id="21" name="Soil is dumped"/>
          <p:cNvSpPr/>
          <p:nvPr/>
        </p:nvSpPr>
        <p:spPr>
          <a:xfrm>
            <a:off x="6766560" y="210312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12280" y="210312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Soil is dumped</a:t>
            </a:r>
            <a:endParaRPr lang="en-US" sz="1150" dirty="0"/>
          </a:p>
        </p:txBody>
      </p:sp>
      <p:sp>
        <p:nvSpPr>
          <p:cNvPr id="23" name="arrow"/>
          <p:cNvSpPr/>
          <p:nvPr/>
        </p:nvSpPr>
        <p:spPr>
          <a:xfrm>
            <a:off x="7754112" y="2560320"/>
            <a:ext cx="182880" cy="0"/>
          </a:xfrm>
          <a:prstGeom prst="line">
            <a:avLst/>
          </a:prstGeom>
          <a:noFill/>
          <a:ln w="22225">
            <a:solidFill>
              <a:srgbClr val="C9D6DE"/>
            </a:solidFill>
            <a:prstDash val="solid"/>
            <a:tailEnd type="triangle"/>
          </a:ln>
        </p:spPr>
      </p:sp>
      <p:sp>
        <p:nvSpPr>
          <p:cNvPr id="24" name="Weeks pass"/>
          <p:cNvSpPr/>
          <p:nvPr/>
        </p:nvSpPr>
        <p:spPr>
          <a:xfrm>
            <a:off x="7964424" y="210312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010144" y="210312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Weeks pass</a:t>
            </a:r>
            <a:endParaRPr lang="en-US" sz="1150" dirty="0"/>
          </a:p>
        </p:txBody>
      </p:sp>
      <p:sp>
        <p:nvSpPr>
          <p:cNvPr id="26" name="arrow"/>
          <p:cNvSpPr/>
          <p:nvPr/>
        </p:nvSpPr>
        <p:spPr>
          <a:xfrm>
            <a:off x="8951976" y="2560320"/>
            <a:ext cx="182880" cy="0"/>
          </a:xfrm>
          <a:prstGeom prst="line">
            <a:avLst/>
          </a:prstGeom>
          <a:noFill/>
          <a:ln w="22225">
            <a:solidFill>
              <a:srgbClr val="C9D6DE"/>
            </a:solidFill>
            <a:prstDash val="solid"/>
            <a:tailEnd type="triangle"/>
          </a:ln>
        </p:spPr>
      </p:sp>
      <p:sp>
        <p:nvSpPr>
          <p:cNvPr id="27" name="A building starts"/>
          <p:cNvSpPr/>
          <p:nvPr/>
        </p:nvSpPr>
        <p:spPr>
          <a:xfrm>
            <a:off x="9162288" y="210312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208008" y="210312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A building starts</a:t>
            </a:r>
            <a:endParaRPr lang="en-US" sz="1150" dirty="0"/>
          </a:p>
        </p:txBody>
      </p:sp>
      <p:sp>
        <p:nvSpPr>
          <p:cNvPr id="29" name="arrow"/>
          <p:cNvSpPr/>
          <p:nvPr/>
        </p:nvSpPr>
        <p:spPr>
          <a:xfrm>
            <a:off x="10149840" y="2560320"/>
            <a:ext cx="182880" cy="0"/>
          </a:xfrm>
          <a:prstGeom prst="line">
            <a:avLst/>
          </a:prstGeom>
          <a:noFill/>
          <a:ln w="22225">
            <a:solidFill>
              <a:srgbClr val="C9D6DE"/>
            </a:solidFill>
            <a:prstDash val="solid"/>
            <a:tailEnd type="triangle"/>
          </a:ln>
        </p:spPr>
      </p:sp>
      <p:sp>
        <p:nvSpPr>
          <p:cNvPr id="30" name="Someone complains"/>
          <p:cNvSpPr/>
          <p:nvPr/>
        </p:nvSpPr>
        <p:spPr>
          <a:xfrm>
            <a:off x="10360152" y="210312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12384D"/>
          </a:solidFill>
          <a:ln w="9525">
            <a:solidFill>
              <a:srgbClr val="12384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10405872" y="210312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Someone complains</a:t>
            </a:r>
            <a:endParaRPr lang="en-US" sz="1150" dirty="0"/>
          </a:p>
        </p:txBody>
      </p:sp>
      <p:sp>
        <p:nvSpPr>
          <p:cNvPr id="32" name="With Paddy Land Watch"/>
          <p:cNvSpPr/>
          <p:nvPr/>
        </p:nvSpPr>
        <p:spPr>
          <a:xfrm>
            <a:off x="6537960" y="3566160"/>
            <a:ext cx="510235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76656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With Paddy Land Watch</a:t>
            </a:r>
            <a:endParaRPr lang="en-US" sz="1700" dirty="0"/>
          </a:p>
        </p:txBody>
      </p:sp>
      <p:sp>
        <p:nvSpPr>
          <p:cNvPr id="34" name="Soil is dumped"/>
          <p:cNvSpPr/>
          <p:nvPr/>
        </p:nvSpPr>
        <p:spPr>
          <a:xfrm>
            <a:off x="6766560" y="434340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812280" y="43434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Soil is dumped</a:t>
            </a:r>
            <a:endParaRPr lang="en-US" sz="1150" dirty="0"/>
          </a:p>
        </p:txBody>
      </p:sp>
      <p:sp>
        <p:nvSpPr>
          <p:cNvPr id="36" name="arrow"/>
          <p:cNvSpPr/>
          <p:nvPr/>
        </p:nvSpPr>
        <p:spPr>
          <a:xfrm>
            <a:off x="7754112" y="4800600"/>
            <a:ext cx="182880" cy="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37" name="Radar sees the change"/>
          <p:cNvSpPr/>
          <p:nvPr/>
        </p:nvSpPr>
        <p:spPr>
          <a:xfrm>
            <a:off x="7964424" y="434340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010144" y="43434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Radar sees the change</a:t>
            </a:r>
            <a:endParaRPr lang="en-US" sz="1150" dirty="0"/>
          </a:p>
        </p:txBody>
      </p:sp>
      <p:sp>
        <p:nvSpPr>
          <p:cNvPr id="39" name="arrow"/>
          <p:cNvSpPr/>
          <p:nvPr/>
        </p:nvSpPr>
        <p:spPr>
          <a:xfrm>
            <a:off x="8951976" y="4800600"/>
            <a:ext cx="182880" cy="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40" name="Alert in 1–2 passes"/>
          <p:cNvSpPr/>
          <p:nvPr/>
        </p:nvSpPr>
        <p:spPr>
          <a:xfrm>
            <a:off x="9162288" y="434340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208008" y="43434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Alert in 1–2 passes</a:t>
            </a:r>
            <a:endParaRPr lang="en-US" sz="1150" dirty="0"/>
          </a:p>
        </p:txBody>
      </p:sp>
      <p:sp>
        <p:nvSpPr>
          <p:cNvPr id="42" name="arrow"/>
          <p:cNvSpPr/>
          <p:nvPr/>
        </p:nvSpPr>
        <p:spPr>
          <a:xfrm>
            <a:off x="10149840" y="4800600"/>
            <a:ext cx="182880" cy="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43" name="An officer checks"/>
          <p:cNvSpPr/>
          <p:nvPr/>
        </p:nvSpPr>
        <p:spPr>
          <a:xfrm>
            <a:off x="10360152" y="434340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10405872" y="43434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 officer checks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Past research and the gap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3931920"/>
                <a:gridCol w="28648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leaves out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Özdoğan et al. 2025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Sri Lanka, 2000–2022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Rice area and yield from Landsat and Sentinel-2; about 91–93% accurate in 2021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Photos only; "rice or not"; no idle or filled class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Sankavi et al. 2025, University of Moratuwa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North Central Province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CNN finds paddy; NDVI and NDWI split active and inactive fields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Dry zone; no other-crop or filled class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Wanninayaka et al. 2020, KDU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Ampara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Sentinel-1 time series maps paddy area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Paddy area only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Jayasooriya et al. 2023, KDU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Hambantota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Landsat 1990–2022 shows paddy lost near the Southern Expressway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Looks back; no alerts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Kasture et al. 2025, EGU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Udupi, India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Sentinel-1 radar with LSTM and BiGRU models finds abandoned paddy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 classes only; not Sri Lanka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ar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5" name="icon FaFlagCheckered"/>
          <p:cNvSpPr/>
          <p:nvPr/>
        </p:nvSpPr>
        <p:spPr>
          <a:xfrm>
            <a:off x="777240" y="546811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558241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539496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Our gap: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no study sorts Sri Lankan paddy land into the four states the law and the subsidy use, every season, in the cloudy wet zone, with field-checked alerts.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Who uses it, and why it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Department of Agrarian Development: 565 Agrarian Service Centres under 25 district offices (2023 report).</a:t>
            </a:r>
            <a:endParaRPr lang="en-US" sz="1400" dirty="0"/>
          </a:p>
        </p:txBody>
      </p:sp>
      <p:sp>
        <p:nvSpPr>
          <p:cNvPr id="4" name="Agrarian Service Centre officers"/>
          <p:cNvSpPr/>
          <p:nvPr/>
        </p:nvSpPr>
        <p:spPr>
          <a:xfrm>
            <a:off x="548640" y="1691640"/>
            <a:ext cx="2602154" cy="3611880"/>
          </a:xfrm>
          <a:prstGeom prst="roundRect">
            <a:avLst>
              <a:gd name="adj" fmla="val 4217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5" name="icon FaUserTie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0002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2190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Agrarian Service Centre officers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00400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They get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74720"/>
            <a:ext cx="2190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monthly ranked list of likely filling, with before-and-after pictures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279392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553712"/>
            <a:ext cx="2190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Visit the top cases, check the permit, act early</a:t>
            </a:r>
            <a:endParaRPr lang="en-US" sz="1300" dirty="0"/>
          </a:p>
        </p:txBody>
      </p:sp>
      <p:sp>
        <p:nvSpPr>
          <p:cNvPr id="12" name="Subsidy officers"/>
          <p:cNvSpPr/>
          <p:nvPr/>
        </p:nvSpPr>
        <p:spPr>
          <a:xfrm>
            <a:off x="3379394" y="1691640"/>
            <a:ext cx="2602154" cy="3611880"/>
          </a:xfrm>
          <a:prstGeom prst="roundRect">
            <a:avLst>
              <a:gd name="adj" fmla="val 4217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3" name="icon FaMoneyBillWave"/>
          <p:cNvSpPr/>
          <p:nvPr/>
        </p:nvSpPr>
        <p:spPr>
          <a:xfrm>
            <a:off x="3607994" y="18745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24" y="200025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07994" y="2514600"/>
            <a:ext cx="2190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Subsidy officers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07994" y="3200400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They get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607994" y="3474720"/>
            <a:ext cx="2190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tract's state this season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607994" y="4279392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They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607994" y="4553712"/>
            <a:ext cx="2190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Rs 25,000/ha paddy and Rs 15,000/ha other-crop claims (Yala 2026)</a:t>
            </a:r>
            <a:endParaRPr lang="en-US" sz="1300" dirty="0"/>
          </a:p>
        </p:txBody>
      </p:sp>
      <p:sp>
        <p:nvSpPr>
          <p:cNvPr id="20" name="Idle-land recovery"/>
          <p:cNvSpPr/>
          <p:nvPr/>
        </p:nvSpPr>
        <p:spPr>
          <a:xfrm>
            <a:off x="6210148" y="1691640"/>
            <a:ext cx="2602154" cy="3611880"/>
          </a:xfrm>
          <a:prstGeom prst="roundRect">
            <a:avLst>
              <a:gd name="adj" fmla="val 4217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21" name="icon FaSeedling"/>
          <p:cNvSpPr/>
          <p:nvPr/>
        </p:nvSpPr>
        <p:spPr>
          <a:xfrm>
            <a:off x="6438748" y="18745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78" y="200025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38748" y="2514600"/>
            <a:ext cx="2190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Idle-land recovery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438748" y="3200400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They get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438748" y="3474720"/>
            <a:ext cx="2190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Tracts idle for two or more seasons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438748" y="4279392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They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438748" y="4553712"/>
            <a:ext cx="2190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owners to farm them again</a:t>
            </a:r>
            <a:endParaRPr lang="en-US" sz="1300" dirty="0"/>
          </a:p>
        </p:txBody>
      </p:sp>
      <p:sp>
        <p:nvSpPr>
          <p:cNvPr id="28" name="Census and Statistics"/>
          <p:cNvSpPr/>
          <p:nvPr/>
        </p:nvSpPr>
        <p:spPr>
          <a:xfrm>
            <a:off x="9040901" y="1691640"/>
            <a:ext cx="2602154" cy="3611880"/>
          </a:xfrm>
          <a:prstGeom prst="roundRect">
            <a:avLst>
              <a:gd name="adj" fmla="val 4217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29" name="icon FaChartColumn"/>
          <p:cNvSpPr/>
          <p:nvPr/>
        </p:nvSpPr>
        <p:spPr>
          <a:xfrm>
            <a:off x="9269501" y="18745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231" y="2000250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269501" y="2514600"/>
            <a:ext cx="2190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Census and Statistics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269501" y="3200400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They get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9269501" y="3474720"/>
            <a:ext cx="2190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sown-area estimate for each district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9269501" y="4279392"/>
            <a:ext cx="2190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They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9269501" y="4553712"/>
            <a:ext cx="2190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Compare it with survey figures</a:t>
            </a:r>
            <a:endParaRPr lang="en-US" sz="1300" dirty="0"/>
          </a:p>
        </p:txBody>
      </p:sp>
      <p:sp>
        <p:nvSpPr>
          <p:cNvPr id="36" name="bar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37" name="icon FaTriangleExclamation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765292"/>
            <a:ext cx="228600" cy="2286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417320" y="557784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An alert to check, never a verdict: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satellite sees the change; only an officer can say whether the filling was legal.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Four land states, four seasonal patterns</a:t>
            </a:r>
            <a:endParaRPr lang="en-US" sz="3200" dirty="0"/>
          </a:p>
        </p:txBody>
      </p:sp>
      <p:sp>
        <p:nvSpPr>
          <p:cNvPr id="3" name="Paddy grown"/>
          <p:cNvSpPr/>
          <p:nvPr/>
        </p:nvSpPr>
        <p:spPr>
          <a:xfrm>
            <a:off x="548640" y="1325880"/>
            <a:ext cx="541004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4" name="icon FaWheatAwn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0020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Paddy grown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194560"/>
            <a:ext cx="412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From space: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field floods at planting (radar goes dark), the crop greens up, then it is harvested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74320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Why it matters: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Paddy subsidy, Rs 25,000/ha</a:t>
            </a:r>
            <a:endParaRPr lang="en-US" sz="1300" dirty="0"/>
          </a:p>
        </p:txBody>
      </p:sp>
      <p:sp>
        <p:nvSpPr>
          <p:cNvPr id="9" name="Other crop on paddy land"/>
          <p:cNvSpPr/>
          <p:nvPr/>
        </p:nvSpPr>
        <p:spPr>
          <a:xfrm>
            <a:off x="6233008" y="1325880"/>
            <a:ext cx="541004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0" name="icon FaCarrot"/>
          <p:cNvSpPr/>
          <p:nvPr/>
        </p:nvSpPr>
        <p:spPr>
          <a:xfrm>
            <a:off x="6507328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0020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Other crop on paddy land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238848" y="2194560"/>
            <a:ext cx="412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From space: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standing water; a shorter green-up from maize, vegetables or similar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238848" y="274320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Why it matters: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Other-crop subsidy, Rs 15,000/ha</a:t>
            </a:r>
            <a:endParaRPr lang="en-US" sz="1300" dirty="0"/>
          </a:p>
        </p:txBody>
      </p:sp>
      <p:sp>
        <p:nvSpPr>
          <p:cNvPr id="15" name="Idle"/>
          <p:cNvSpPr/>
          <p:nvPr/>
        </p:nvSpPr>
        <p:spPr>
          <a:xfrm>
            <a:off x="548640" y="3429000"/>
            <a:ext cx="541004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6" name="icon FaHourglassHalf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FAB219"/>
          </a:solidFill>
          <a:ln w="12700">
            <a:solidFill>
              <a:srgbClr val="FAB21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370332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Idle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554480" y="4297680"/>
            <a:ext cx="412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From space: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flooding and no crop cycle; weeds or grass give a flat signal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484632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Why it matters: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Target for idle-land recovery</a:t>
            </a:r>
            <a:endParaRPr lang="en-US" sz="1300" dirty="0"/>
          </a:p>
        </p:txBody>
      </p:sp>
      <p:sp>
        <p:nvSpPr>
          <p:cNvPr id="21" name="Filled or built over"/>
          <p:cNvSpPr/>
          <p:nvPr/>
        </p:nvSpPr>
        <p:spPr>
          <a:xfrm>
            <a:off x="6233008" y="3429000"/>
            <a:ext cx="541004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22" name="icon FaTruck"/>
          <p:cNvSpPr/>
          <p:nvPr/>
        </p:nvSpPr>
        <p:spPr>
          <a:xfrm>
            <a:off x="6507328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8" y="38404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38848" y="370332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Filled or built over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238848" y="4297680"/>
            <a:ext cx="412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From space: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sudden, lasting change to bare soil or roofs; the field never floods again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238848" y="484632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Why it matters: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Possible offence under s. 32: inspect quickly</a:t>
            </a:r>
            <a:endParaRPr lang="en-US" sz="1300" dirty="0"/>
          </a:p>
        </p:txBody>
      </p:sp>
      <p:sp>
        <p:nvSpPr>
          <p:cNvPr id="27" name="bar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28" name="icon FaRotate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765292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17320" y="557784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Radar sees the pattern through monsoon cloud.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Reading several seasons at once tells a one-off fallow season from abandoned land.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Member 1: AI land-state model</a:t>
            </a:r>
            <a:endParaRPr lang="en-US" sz="3200" dirty="0"/>
          </a:p>
        </p:txBody>
      </p:sp>
      <p:sp>
        <p:nvSpPr>
          <p:cNvPr id="3" name="RQ1"/>
          <p:cNvSpPr/>
          <p:nvPr/>
        </p:nvSpPr>
        <p:spPr>
          <a:xfrm>
            <a:off x="548640" y="1207008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070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RQ1</a:t>
            </a:r>
            <a:endParaRPr lang="en-US" sz="1200" dirty="0"/>
          </a:p>
        </p:txBody>
      </p:sp>
      <p:sp>
        <p:nvSpPr>
          <p:cNvPr id="5" name="RQ3"/>
          <p:cNvSpPr/>
          <p:nvPr/>
        </p:nvSpPr>
        <p:spPr>
          <a:xfrm>
            <a:off x="1298448" y="1207008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98448" y="12070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RQ3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39696" y="1115568"/>
            <a:ext cx="95033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How accurately can deep learning on fused Sentinel-1 and Sentinel-2 time series sort each tract's season into paddy, other crop, idle or filled?</a:t>
            </a:r>
            <a:endParaRPr lang="en-US" sz="1350" dirty="0"/>
          </a:p>
        </p:txBody>
      </p:sp>
      <p:sp>
        <p:nvSpPr>
          <p:cNvPr id="8" name="Data analysis"/>
          <p:cNvSpPr/>
          <p:nvPr/>
        </p:nvSpPr>
        <p:spPr>
          <a:xfrm>
            <a:off x="548640" y="1783080"/>
            <a:ext cx="541004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icon FaChartColumn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6197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94767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analysis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560320"/>
            <a:ext cx="48614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Label about 400 tract-seasons from field visits and Sentinel-2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Score each class with F1 and macro-F1 in areas the model never saw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Beat a Random Forest, AlphaEarth embeddings and the Özdoğan rice maps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RQ3: accuracy when clear photos are few, and one-off fallow against abandoned land</a:t>
            </a:r>
            <a:endParaRPr lang="en-US" sz="1500" dirty="0"/>
          </a:p>
        </p:txBody>
      </p:sp>
      <p:sp>
        <p:nvSpPr>
          <p:cNvPr id="13" name="Technical work"/>
          <p:cNvSpPr/>
          <p:nvPr/>
        </p:nvSpPr>
        <p:spPr>
          <a:xfrm>
            <a:off x="6233008" y="1783080"/>
            <a:ext cx="5410048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4" name="icon FaGears"/>
          <p:cNvSpPr/>
          <p:nvPr/>
        </p:nvSpPr>
        <p:spPr>
          <a:xfrm>
            <a:off x="6507328" y="1947672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28" y="206197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01688" y="194767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Technical work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507328" y="2560320"/>
            <a:ext cx="48614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Time-series deep learning: a temporal CNN or a transformer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Inputs: Sentinel-1 VV and VH; Sentinel-2 B2, B3, B4, B8, B11, B12, NDVI and NDWI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Masked attention that leans on radar on cloudy dates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Reads several seasons at once</a:t>
            </a:r>
            <a:endParaRPr lang="en-US" sz="1500" dirty="0"/>
          </a:p>
        </p:txBody>
      </p:sp>
      <p:sp>
        <p:nvSpPr>
          <p:cNvPr id="18" name="bar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19" name="icon FaFlagCheckered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76529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557784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Output: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four-state map for every tract, every season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Member 2: Radar change detection and checks</a:t>
            </a:r>
            <a:endParaRPr lang="en-US" sz="3200" dirty="0"/>
          </a:p>
        </p:txBody>
      </p:sp>
      <p:sp>
        <p:nvSpPr>
          <p:cNvPr id="3" name="RQ2"/>
          <p:cNvSpPr/>
          <p:nvPr/>
        </p:nvSpPr>
        <p:spPr>
          <a:xfrm>
            <a:off x="548640" y="1207008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070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RQ2</a:t>
            </a:r>
            <a:endParaRPr lang="en-US" sz="1200" dirty="0"/>
          </a:p>
        </p:txBody>
      </p:sp>
      <p:sp>
        <p:nvSpPr>
          <p:cNvPr id="5" name="RQ3"/>
          <p:cNvSpPr/>
          <p:nvPr/>
        </p:nvSpPr>
        <p:spPr>
          <a:xfrm>
            <a:off x="1298448" y="1207008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98448" y="12070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RQ3</a:t>
            </a:r>
            <a:endParaRPr lang="en-US" sz="1200" dirty="0"/>
          </a:p>
        </p:txBody>
      </p:sp>
      <p:sp>
        <p:nvSpPr>
          <p:cNvPr id="7" name="NISAR stretch"/>
          <p:cNvSpPr/>
          <p:nvPr/>
        </p:nvSpPr>
        <p:spPr>
          <a:xfrm>
            <a:off x="2048256" y="1207008"/>
            <a:ext cx="141732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2048256" y="12070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NISAR stretch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66744" y="1115568"/>
            <a:ext cx="79763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How soon after filling starts can change detection flag it, and how many of the top 20 and top 50 alerts are real?</a:t>
            </a:r>
            <a:endParaRPr lang="en-US" sz="1350" dirty="0"/>
          </a:p>
        </p:txBody>
      </p:sp>
      <p:sp>
        <p:nvSpPr>
          <p:cNvPr id="10" name="Data analysis"/>
          <p:cNvSpPr/>
          <p:nvPr/>
        </p:nvSpPr>
        <p:spPr>
          <a:xfrm>
            <a:off x="548640" y="1783080"/>
            <a:ext cx="541004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icon FaChartColumn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61972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17320" y="194767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analysis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560320"/>
            <a:ext cx="48614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Days from the start of filling to the alert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Share of the top 20 and top 50 alerts confirmed in the field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30–50 known filling cases to test 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 with a simple before-and-after change in radar and NDVI</a:t>
            </a:r>
            <a:endParaRPr lang="en-US" sz="1500" dirty="0"/>
          </a:p>
        </p:txBody>
      </p:sp>
      <p:sp>
        <p:nvSpPr>
          <p:cNvPr id="15" name="Technical work"/>
          <p:cNvSpPr/>
          <p:nvPr/>
        </p:nvSpPr>
        <p:spPr>
          <a:xfrm>
            <a:off x="6233008" y="1783080"/>
            <a:ext cx="5410048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6" name="icon FaGears"/>
          <p:cNvSpPr/>
          <p:nvPr/>
        </p:nvSpPr>
        <p:spPr>
          <a:xfrm>
            <a:off x="6507328" y="1947672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28" y="2061972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101688" y="194767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Technical work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507328" y="2560320"/>
            <a:ext cx="48614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Sentinel-1 calibration and terrain correction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VV/VH ratio and change vector analysis, with no training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radar stability index: filling against harvest or clearing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Stretch: does NISAR L-band radar separate idle land from other crops?</a:t>
            </a:r>
            <a:endParaRPr lang="en-US" sz="1500" dirty="0"/>
          </a:p>
        </p:txBody>
      </p:sp>
      <p:sp>
        <p:nvSpPr>
          <p:cNvPr id="20" name="bar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21" name="icon FaFlagCheckered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765292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17320" y="557784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Output: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filling alerts within one or two radar passes, checked in the field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Member 3: Pipeline, ranking and dashboard</a:t>
            </a:r>
            <a:endParaRPr lang="en-US" sz="3200" dirty="0"/>
          </a:p>
        </p:txBody>
      </p:sp>
      <p:sp>
        <p:nvSpPr>
          <p:cNvPr id="3" name="RQ4"/>
          <p:cNvSpPr/>
          <p:nvPr/>
        </p:nvSpPr>
        <p:spPr>
          <a:xfrm>
            <a:off x="548640" y="1207008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070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RQ4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1115568"/>
            <a:ext cx="102531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Which way of ranking alerts gives the most confirmed cases per field visit?</a:t>
            </a:r>
            <a:endParaRPr lang="en-US" sz="1350" dirty="0"/>
          </a:p>
        </p:txBody>
      </p:sp>
      <p:sp>
        <p:nvSpPr>
          <p:cNvPr id="6" name="Data analysis"/>
          <p:cNvSpPr/>
          <p:nvPr/>
        </p:nvSpPr>
        <p:spPr>
          <a:xfrm>
            <a:off x="548640" y="1783080"/>
            <a:ext cx="541004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icon FaChartColumn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61972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4767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analysis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48614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Rank alerts by area, speed of change, nearness to roads and waterways, and past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Confirmed cases per field visit, against ranking by area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District totals against Census and Statistics figures</a:t>
            </a:r>
            <a:endParaRPr lang="en-US" sz="1500" dirty="0"/>
          </a:p>
        </p:txBody>
      </p:sp>
      <p:sp>
        <p:nvSpPr>
          <p:cNvPr id="11" name="Technical work"/>
          <p:cNvSpPr/>
          <p:nvPr/>
        </p:nvSpPr>
        <p:spPr>
          <a:xfrm>
            <a:off x="6233008" y="1783080"/>
            <a:ext cx="5410048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2" name="icon FaGears"/>
          <p:cNvSpPr/>
          <p:nvPr/>
        </p:nvSpPr>
        <p:spPr>
          <a:xfrm>
            <a:off x="6507328" y="1947672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28" y="2061972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01688" y="194767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Technical work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07328" y="2560320"/>
            <a:ext cx="48614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Earth Engine to Python pipeline: download, cloud masks, co-registration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Pixel results summed to each paddy tract (yaya)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Multi-criteria risk ranking of tracts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Web dashboard with alert lists and PDF reports for officers</a:t>
            </a:r>
            <a:endParaRPr lang="en-US" sz="1500" dirty="0"/>
          </a:p>
        </p:txBody>
      </p:sp>
      <p:sp>
        <p:nvSpPr>
          <p:cNvPr id="16" name="bar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17" name="icon FaFlagCheckered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765292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557784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Output: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ranked alert list and a dashboard for Agrarian Service Centre officers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One system, three parts</a:t>
            </a:r>
            <a:endParaRPr lang="en-US" sz="3200" dirty="0"/>
          </a:p>
        </p:txBody>
      </p:sp>
      <p:sp>
        <p:nvSpPr>
          <p:cNvPr id="3" name="MEMBER 3"/>
          <p:cNvSpPr/>
          <p:nvPr/>
        </p:nvSpPr>
        <p:spPr>
          <a:xfrm>
            <a:off x="548640" y="233172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4" name="icon FaDatabase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64718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514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MEMBER 3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0815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Pipeline: Sentinel-1 and Sentinel-2 from Earth Engine, cloud masks, calibration</a:t>
            </a:r>
            <a:endParaRPr lang="en-US" sz="1350" dirty="0"/>
          </a:p>
        </p:txBody>
      </p:sp>
      <p:sp>
        <p:nvSpPr>
          <p:cNvPr id="8" name="MEMBER 1"/>
          <p:cNvSpPr/>
          <p:nvPr/>
        </p:nvSpPr>
        <p:spPr>
          <a:xfrm>
            <a:off x="3520440" y="1325880"/>
            <a:ext cx="26517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9" name="icon FaBrain"/>
          <p:cNvSpPr/>
          <p:nvPr/>
        </p:nvSpPr>
        <p:spPr>
          <a:xfrm>
            <a:off x="3721608" y="15270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164134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97680" y="1508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MEMBER 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3721608" y="20756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AI model: the four land states for every tract, each season</a:t>
            </a:r>
            <a:endParaRPr lang="en-US" sz="1350" dirty="0"/>
          </a:p>
        </p:txBody>
      </p:sp>
      <p:sp>
        <p:nvSpPr>
          <p:cNvPr id="13" name="MEMBER 2"/>
          <p:cNvSpPr/>
          <p:nvPr/>
        </p:nvSpPr>
        <p:spPr>
          <a:xfrm>
            <a:off x="3520440" y="3337560"/>
            <a:ext cx="26517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4" name="icon FaSatelliteDish"/>
          <p:cNvSpPr/>
          <p:nvPr/>
        </p:nvSpPr>
        <p:spPr>
          <a:xfrm>
            <a:off x="3721608" y="353872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908" y="365302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97680" y="3520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MEMBER 2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3721608" y="40873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Radar change: filling alerts within one or two passes</a:t>
            </a:r>
            <a:endParaRPr lang="en-US" sz="1350" dirty="0"/>
          </a:p>
        </p:txBody>
      </p:sp>
      <p:sp>
        <p:nvSpPr>
          <p:cNvPr id="18" name="MEMBER 3"/>
          <p:cNvSpPr/>
          <p:nvPr/>
        </p:nvSpPr>
        <p:spPr>
          <a:xfrm>
            <a:off x="6629400" y="233172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9" name="icon FaListOl"/>
          <p:cNvSpPr/>
          <p:nvPr/>
        </p:nvSpPr>
        <p:spPr>
          <a:xfrm>
            <a:off x="6830568" y="25328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868" y="264718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2514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MEMBER 3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6830568" y="30815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Tract totals, risk ranking and the cross-check of both results</a:t>
            </a:r>
            <a:endParaRPr lang="en-US" sz="1350" dirty="0"/>
          </a:p>
        </p:txBody>
      </p:sp>
      <p:sp>
        <p:nvSpPr>
          <p:cNvPr id="23" name="OFFICERS"/>
          <p:cNvSpPr/>
          <p:nvPr/>
        </p:nvSpPr>
        <p:spPr>
          <a:xfrm>
            <a:off x="9601200" y="2331720"/>
            <a:ext cx="2039112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24" name="icon FaMapLocationDot"/>
          <p:cNvSpPr/>
          <p:nvPr/>
        </p:nvSpPr>
        <p:spPr>
          <a:xfrm>
            <a:off x="9802368" y="253288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668" y="2647188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378440" y="251460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OFFICERS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9802368" y="3081528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Dashboard: ranked alerts and PDF reports</a:t>
            </a:r>
            <a:endParaRPr lang="en-US" sz="1350" dirty="0"/>
          </a:p>
        </p:txBody>
      </p:sp>
      <p:sp>
        <p:nvSpPr>
          <p:cNvPr id="28" name="arrow"/>
          <p:cNvSpPr/>
          <p:nvPr/>
        </p:nvSpPr>
        <p:spPr>
          <a:xfrm flipV="1">
            <a:off x="3090672" y="2194560"/>
            <a:ext cx="402336" cy="73152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3090672" y="3474720"/>
            <a:ext cx="402336" cy="73152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6199632" y="2194560"/>
            <a:ext cx="402336" cy="73152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 flipV="1">
            <a:off x="6199632" y="3474720"/>
            <a:ext cx="402336" cy="73152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9171432" y="3200400"/>
            <a:ext cx="402336" cy="0"/>
          </a:xfrm>
          <a:prstGeom prst="line">
            <a:avLst/>
          </a:prstGeom>
          <a:noFill/>
          <a:ln w="22225">
            <a:solidFill>
              <a:srgbClr val="56656F"/>
            </a:solidFill>
            <a:prstDash val="solid"/>
            <a:tailEnd type="triangle"/>
          </a:ln>
        </p:spPr>
      </p:sp>
      <p:sp>
        <p:nvSpPr>
          <p:cNvPr id="33" name="bar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34" name="icon FaRotate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765292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417320" y="557784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Feedback: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every case an officer confirms becomes a new training label, so the model is retrained every season.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Data and ground truth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All images are free. Only the department's own lists must be asked for, so that request goes out in week one.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497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Radar time series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Sentinel-1, 10 m, sees through cloud (Earth Engine)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Gampaha got 9 scenes in Jul–Sep 2026, mostly 12 days apart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Optical time series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Sentinel-2, 10 m, about every 5 days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 gaps under monsoon cloud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Paddy mask and baseline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Özdoğan et al. seasonal rice maps and code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land has grown rice, season by season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Few-label baseline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AlphaEarth Satellite Embedding, 10 m, 2017–2024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Does a simple model on embeddings match deep learning?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District totals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Census and Statistics, Maha and Yala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check on totals, not on tracts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labels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About 400 tract-seasons in Gampaha and Kalutara, Maha 2026/27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GPS phone photos from team visits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Department records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Uncultivated-land list, fallow registers, filling permits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public: request with a supervisor's letter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Feasibility, targets and what we deliver</a:t>
            </a:r>
            <a:endParaRPr lang="en-US" sz="3200" dirty="0"/>
          </a:p>
        </p:txBody>
      </p:sp>
      <p:sp>
        <p:nvSpPr>
          <p:cNvPr id="3" name="Why it is feasible"/>
          <p:cNvSpPr/>
          <p:nvPr/>
        </p:nvSpPr>
        <p:spPr>
          <a:xfrm>
            <a:off x="548640" y="1325880"/>
            <a:ext cx="3545738" cy="4023360"/>
          </a:xfrm>
          <a:prstGeom prst="roundRect">
            <a:avLst>
              <a:gd name="adj" fmla="val 3095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4" name="icon FaCircleCheck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087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it is feasible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30428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Free data: Sentinel-1, Sentinel-2 and Earth Engine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Python and PyTorch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Maha 2026/27 is the live season for field checks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Week-6 check before the main model work</a:t>
            </a:r>
            <a:endParaRPr lang="en-US" sz="1450" dirty="0"/>
          </a:p>
        </p:txBody>
      </p:sp>
      <p:sp>
        <p:nvSpPr>
          <p:cNvPr id="8" name="Targets"/>
          <p:cNvSpPr/>
          <p:nvPr/>
        </p:nvSpPr>
        <p:spPr>
          <a:xfrm>
            <a:off x="4322978" y="1325880"/>
            <a:ext cx="3545738" cy="4023360"/>
          </a:xfrm>
          <a:prstGeom prst="roundRect">
            <a:avLst>
              <a:gd name="adj" fmla="val 3095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9" name="icon FaFlagCheckered"/>
          <p:cNvSpPr/>
          <p:nvPr/>
        </p:nvSpPr>
        <p:spPr>
          <a:xfrm>
            <a:off x="4597298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598" y="16230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91658" y="15087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Targets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97298" y="2148840"/>
            <a:ext cx="30428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Week 6: macro-F1 of 0.70 or more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End: four-state accuracy above 85%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Filling alert within 12–24 days (one or two radar passes)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Fewer than 15% false alerts in the top list</a:t>
            </a:r>
            <a:endParaRPr lang="en-US" sz="1450" dirty="0"/>
          </a:p>
        </p:txBody>
      </p:sp>
      <p:sp>
        <p:nvSpPr>
          <p:cNvPr id="13" name="What we deliver"/>
          <p:cNvSpPr/>
          <p:nvPr/>
        </p:nvSpPr>
        <p:spPr>
          <a:xfrm>
            <a:off x="8097317" y="1325880"/>
            <a:ext cx="3545738" cy="4023360"/>
          </a:xfrm>
          <a:prstGeom prst="roundRect">
            <a:avLst>
              <a:gd name="adj" fmla="val 3095"/>
            </a:avLst>
          </a:prstGeom>
          <a:solidFill>
            <a:schemeClr val="bg1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230">
                <a:alpha val="13000"/>
              </a:srgbClr>
            </a:outerShdw>
          </a:effectLst>
        </p:spPr>
      </p:sp>
      <p:sp>
        <p:nvSpPr>
          <p:cNvPr id="14" name="icon FaListOl"/>
          <p:cNvSpPr/>
          <p:nvPr/>
        </p:nvSpPr>
        <p:spPr>
          <a:xfrm>
            <a:off x="8371637" y="15087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937" y="16230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65997" y="15087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we deliver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71637" y="2148840"/>
            <a:ext cx="30428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Four-state maps every season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 radar filling-alert engine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An automatic pipeline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 web dashboard for officers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 research paper</a:t>
            </a:r>
            <a:endParaRPr lang="en-US" sz="1450" dirty="0"/>
          </a:p>
        </p:txBody>
      </p:sp>
      <p:sp>
        <p:nvSpPr>
          <p:cNvPr id="18" name="bar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0B2230"/>
          </a:solidFill>
          <a:ln w="9525">
            <a:solidFill>
              <a:srgbClr val="0B2230"/>
            </a:solidFill>
            <a:prstDash val="solid"/>
          </a:ln>
        </p:spPr>
      </p:sp>
      <p:sp>
        <p:nvSpPr>
          <p:cNvPr id="19" name="icon FaTriangleExclamation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576529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557784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Biggest risks: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idle and other crop may look alike (then merge them as "not paddy"); the department may not share its lists (then use field labels only).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DE"/>
                </a:solidFill>
              </a:rPr>
              <a:t>Questions and feedback are welcome.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Datasets and links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u="sng" dirty="0">
                <a:solidFill>
                  <a:schemeClr val="accent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Özdoğan et al.: Sri Lanka rice maps and code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u="sng" dirty="0">
                <a:solidFill>
                  <a:schemeClr val="accent5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Sentinel-1 radar in Earth Engine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u="sng" dirty="0">
                <a:solidFill>
                  <a:schemeClr val="accent5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Sentinel-2 in Earth Engine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u="sng" dirty="0">
                <a:solidFill>
                  <a:schemeClr val="accent5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AlphaEarth Satellite Embedding in Earth Engine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u="sng" dirty="0">
                <a:solidFill>
                  <a:schemeClr val="accent5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Copernicus Browser: see any Sentinel picture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u="sng" dirty="0">
                <a:solidFill>
                  <a:schemeClr val="accent5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 and Statistics: paddy statistics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u="sng" dirty="0">
                <a:solidFill>
                  <a:schemeClr val="accent5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Kasture et al. 2025: abandoned paddy from radar (EGU abstract)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010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Sources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2468880"/>
            <a:ext cx="3639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DE"/>
                </a:solidFill>
              </a:rPr>
              <a:t>Agrarian Development Act No. 46 of 2000, sections 30 and 32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DE"/>
                </a:solidFill>
              </a:rPr>
              <a:t>Department of Agrarian Development, Annual Performance Report 2023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DE"/>
                </a:solidFill>
              </a:rPr>
              <a:t>Auditor General, Kegalle District special audit, 2018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DE"/>
                </a:solidFill>
              </a:rPr>
              <a:t>News 1st, 27 Feb 2025: uncultivated paddy land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DE"/>
                </a:solidFill>
              </a:rPr>
              <a:t>Ada Derana, 4 Mar 2026: Yala 2026 subsidies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C1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ddy Land Watch">
  <a:themeElements>
    <a:clrScheme name="Paddy Land Watch">
      <a:dk1>
        <a:srgbClr val="142430"/>
      </a:dk1>
      <a:lt1>
        <a:srgbClr val="FFFFFF"/>
      </a:lt1>
      <a:dk2>
        <a:srgbClr val="0B2230"/>
      </a:dk2>
      <a:lt2>
        <a:srgbClr val="EEF3F6"/>
      </a:lt2>
      <a:accent1>
        <a:srgbClr val="2A78D6"/>
      </a:accent1>
      <a:accent2>
        <a:srgbClr val="EB6834"/>
      </a:accent2>
      <a:accent3>
        <a:srgbClr val="1BAF7A"/>
      </a:accent3>
      <a:accent4>
        <a:srgbClr val="FAB219"/>
      </a:accent4>
      <a:accent5>
        <a:srgbClr val="8FC1F2"/>
      </a:accent5>
      <a:accent6>
        <a:srgbClr val="56656F"/>
      </a:accent6>
      <a:hlink>
        <a:srgbClr val="2A78D6"/>
      </a:hlink>
      <a:folHlink>
        <a:srgbClr val="1C5CAB"/>
      </a:folHlink>
    </a:clrScheme>
    <a:fontScheme name="Paddy Land Watch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University of Moratuwa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Paddy Land Watch for Sri Lanka</dc:title>
  <dc:subject>IS4990 project proposal talk</dc:subject>
  <dc:creator>Group 6, JARVIS</dc:creator>
  <cp:lastModifiedBy>Group 6, JARVIS</cp:lastModifiedBy>
  <cp:revision>1</cp:revision>
  <dcterms:created xsi:type="dcterms:W3CDTF">2026-10-28T02:12:14Z</dcterms:created>
  <dcterms:modified xsi:type="dcterms:W3CDTF">2026-10-28T02:12:14Z</dcterms:modified>
</cp:coreProperties>
</file>